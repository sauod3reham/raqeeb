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286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4000" b="1">
                <a:solidFill>
                  <a:srgbClr val="FFFFFF"/>
                </a:solidFill>
              </a:defRPr>
            </a:pPr>
            <a:r>
              <a:t>مساعد تدقيق الامتثال التنظيمي</a:t>
            </a:r>
          </a:p>
          <a:p>
            <a:pPr algn="r" rtl="1">
              <a:defRPr sz="2000">
                <a:solidFill>
                  <a:srgbClr val="00A79D"/>
                </a:solidFill>
              </a:defRPr>
            </a:pPr>
            <a:r>
              <a:t>Digital Transformation &amp; Cybersecurity Compliance Auditor</a:t>
            </a:r>
          </a:p>
          <a:p>
            <a:pPr algn="r" rtl="1">
              <a:defRPr sz="1600">
                <a:solidFill>
                  <a:srgbClr val="C9D6E3"/>
                </a:solidFill>
              </a:defRPr>
            </a:pPr>
            <a:r>
              <a:t>مشروع تخرج — Generative AI Solutions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اسم الفريق: [أدخل اسم الفريق]</a:t>
            </a:r>
          </a:p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رغد عسيري، ريهام المطيري، ليان الدوسري</a:t>
            </a:r>
          </a:p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تاريخ التسليم: 6 أغسطس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المشكلة والمستخدم المستهدف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لماذا هذا المشروع؟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الجهات الحكومية السعودية ملزمة بالامتثال لأطر تنظيمية متعددة ومعقّدة: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معايير قياس للتحول الرقمي — هيئة الحكومة الرقمية DGA (89 معيارًا ضمن 10 مناظير)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الضوابط الأساسية للأمن السيبراني ECC — الهيئة الوطنية للأمن السيبراني (108 ضوابط ضمن 28 محورًا)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مراجعة مستندات الجهة يدويًا مقابل هذا الكم من المعايير: عملية بطيئة، غير متسقة بين المراجعين، وعرضة للخطأ البشري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المستخدم المستهدف: مدقق الامتثال / مسؤول حوكمة تقنية المعلومات والأمن السيبراني داخل الجهة الحكومية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الحل المقترح والقيمة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كيف يحل النظام المشكلة؟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يرفع المستخدم مستند الجهة (PDF أو Word) ويختار المعيار/الضابط المطلوب تدقيقه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يقوم النظام تلقائيًا بـ: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قراءة نص المستند + استخراج وتحليل أي صور/لقطات شاشة مضمّنة بداخله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مقارنة المحتوى حصريًا بنص المعيار الرسمي المسترجَع (وليس بمجرد تشابه الكلمات)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إصدار درجة امتثال، الفجوات، التوصيات، وتقرير CSV قابل للتنزيل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القيمة: توفير وقت المراجعة، اتساق النتائج، وتوثيق قابل للتتبع لكل معيار على حدة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البيانات المدخلة وقاعدة المعرفة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على ماذا يعتمد النظام؟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قاعدة المعرفة: نصوص رسمية مُلخّصة من الوثائق الرسمية الصادرة عن DGA وNCA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إطار قياس: 10 مناظير ← 24 محورًا ← 89 معيارًا، بالهدف والمتطلبات الرئيسية لكل معيار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إطار ECC: 4 مجالات ← 28 محورًا ← 108 ضوابط رئيسية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مدخلات المستخدم: مستند PDF أو Word خاص بالجهة، يحتوي نصًا وصورًا (لقطات شاشة كأدلة إثبات)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لا حاجة لبيانات ضخمة — بيانات رسمية ومحدّدة الحجم كافية لدقة الاسترجاع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البنية العامة للنظام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من رفع المستند إلى النتيجة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رفع المستند</a:t>
            </a:r>
            <a:br/>
            <a:r>
              <a:t>(PDF / Word)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9466783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0551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استخراج النص</a:t>
            </a:r>
            <a:br/>
            <a:r>
              <a:t>والصور</a:t>
            </a:r>
          </a:p>
        </p:txBody>
      </p:sp>
      <p:sp>
        <p:nvSpPr>
          <p:cNvPr id="9" name="Right Arrow 8"/>
          <p:cNvSpPr/>
          <p:nvPr/>
        </p:nvSpPr>
        <p:spPr>
          <a:xfrm rot="10800000">
            <a:off x="7034479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78247" y="2743200"/>
            <a:ext cx="1600200" cy="1005840"/>
          </a:xfrm>
          <a:prstGeom prst="roundRect">
            <a:avLst/>
          </a:prstGeom>
          <a:solidFill>
            <a:srgbClr val="00A79D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استرجاع RAG</a:t>
            </a:r>
            <a:br/>
            <a:r>
              <a:t>(الدليل الرسمي)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4602175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5943" y="2743200"/>
            <a:ext cx="1600200" cy="1005840"/>
          </a:xfrm>
          <a:prstGeom prst="roundRect">
            <a:avLst/>
          </a:prstGeom>
          <a:solidFill>
            <a:srgbClr val="00A79D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تحليل الصور</a:t>
            </a:r>
            <a:br/>
            <a:r>
              <a:t>(نموذج رؤية)</a:t>
            </a:r>
          </a:p>
        </p:txBody>
      </p:sp>
      <p:sp>
        <p:nvSpPr>
          <p:cNvPr id="13" name="Right Arrow 12"/>
          <p:cNvSpPr/>
          <p:nvPr/>
        </p:nvSpPr>
        <p:spPr>
          <a:xfrm rot="10800000">
            <a:off x="2169871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3639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الوكيل + الأدوات</a:t>
            </a:r>
            <a:br/>
            <a:r>
              <a:t>(Agent)</a:t>
            </a:r>
          </a:p>
        </p:txBody>
      </p:sp>
      <p:sp>
        <p:nvSpPr>
          <p:cNvPr id="15" name="Right Arrow 14"/>
          <p:cNvSpPr/>
          <p:nvPr/>
        </p:nvSpPr>
        <p:spPr>
          <a:xfrm rot="10800000">
            <a:off x="-262433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-2118665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النتيجة</a:t>
            </a:r>
            <a:br/>
            <a:r>
              <a:t>(درجة + تقرير)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i="1">
                <a:solidFill>
                  <a:srgbClr val="333F4C"/>
                </a:solidFill>
              </a:defRPr>
            </a:pPr>
            <a:r>
              <a:t>طبقة أمنية (تسجيل دخول + صلاحيات + كشف حقن + سجل تدقيق) تُغلّف كامل هذا التدفق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خط أنابيب RAG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كيف يجد النظام الدليل الصحيح؟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مرحلة التحضير (غير متصلة):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ملفات المعرفة (قياس + ECC) ← تنظيف النص ← تقسيم لمقاطع ~120 كلمة ← Embeddings (text-embedding-3-large) ← تخزين في Vector Store محلي (JSON)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مرحلة التشغيل (وقت الطلب):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بناء استعلام مرتبط بالمعيار المحدد تحديدًا ← تحويله إلى embedding ← بحث بالتشابه الجيبي (Top-K = 6) ← إرجاع المقاطع الأقرب مع اسم المصدر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قاعدة صارمة في البرومبت: لا حكم امتثال دون دليل واضح ومحدد — الحالات غير المدعومة تُصنَّف "غير مثبت / يتطلب مراجعة بشرية"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التشابه اللفظي وحده لا يُعتبر دليل امتثال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الوكيل والأدوات (Agent &amp; Tools)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من يتخذ القرار؟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الأداة الأولى — calculate_compliance_score: تحسب نسبة الامتثال المئوية من نتائج المطابقة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الأداة الثانية — generate_compliance_report: تُصدر تقرير CSV منظم (المتطلب / الحالة / الدليل / الملاحظات)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خطوة إضافية بصرية: نموذج رؤية (Vision Model) يفحص كل صورة مضمّنة، يتحقق من مطابقتها لنوع الدليل المطلوب، ومن كون تاريخها ضمن سنة القياس الحالية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ضابط تحكم أمني: فحص "محاولات حقن التعليمات" (Prompt Injection) قبل أي استدعاء للنموذج — يوقف الطلب فورًا برسالة عامة عند الاشتباه، ويُسجَّل الحدث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الوكيل يبني برومبت مُحصَّن يفصل بوضوح بين تعليمات النظام والمحتوى غير الموثوق (المستند المرفوع ونتائج RAG)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العرض الحي (Live Demo)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تجربة عملية على النظام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رفع مستند تجريبي (تقرير تخطيط استراتيجي يحتوي نصًا ولقطة شاشة كدليل)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اختيار الإطار: قياس ← المنظور الأول: الإستراتيجية والتخطيط ← المعيار 5.1.1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عرض تلقائي دون أي زر إضافي: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النص المستخرج من المستند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تحليل الصورة المرفقة ومدى مطابقتها وحداثتها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درجة الامتثال، الفجوات، التوصيات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تنزيل تقرير CSV النهائي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الاختبار والأمان والقيود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هل يمكن الوثوق بالنظام؟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35 اختبارًا آليًا (pytest) تغطي على الأقل: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حقن تعليمات مباشر وغير مباشر (عبر مستند مرفوع)، محاولة كشف System Prompt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رفض ملف بامتداد مزيّف (فحص Magic Bytes الفعلي، لا الامتداد فقط)، ملف أكبر من الحد المسموح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صلاحيات أدوار متعددة (Admin / Compliance Auditor / Reviewer / Viewer) يُتحقَّق منها في الخادم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تحديد معدل الاستخدام (Rate Limiting)، سجل تدقيق (Audit Log) بدون تسجيل أسرار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عدم تسريب أخطاء تقنية (Stack Trace) للمستخدم، فحص التبعيات (pip-audit) دون ثغرات معروفة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القيود المتبقية: كشف الحقن استدلالي وليس ضمانًا مطلقًا؛ لا فحص فيروسات فعلي للملفات؛ قاعدة المعرفة عامة وليست مخصصة لكل جهة على حدة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الخاتمة والتحسينات المستقبلية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إلى أين يمكن أن يتطور المشروع؟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الخلاصة: نموذج عملي متكامل يربط بين RAG، وكيل بأدوات حقيقية، وتطبيق فعلي قابل للتشغيل والعرض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يغطي متطلبات المشروع: Day 1 (نموذج ← حل)، RAG كامل، Agent بأداتين حقيقيتين على الأقل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تحسينات مستقبلية: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إضافة أطر تنظيمية سعودية إضافية (مثل PDPL، NDMO)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سجل تدقيق دائم لكل جهة مع مقارنة الأداء عبر الزمن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فحص فيروسات فعلي للملفات المرفوعة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نشر عام على Streamlit Community Cloud (نقاط المكافأة +5)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