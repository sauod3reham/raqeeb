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286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4000" b="1">
                <a:solidFill>
                  <a:srgbClr val="FFFFFF"/>
                </a:solidFill>
              </a:defRPr>
            </a:pPr>
            <a:r>
              <a:t>مساعد تدقيق الامتثال التنظيمي</a:t>
            </a:r>
          </a:p>
          <a:p>
            <a:pPr algn="r" rtl="1">
              <a:defRPr sz="2000">
                <a:solidFill>
                  <a:srgbClr val="00A79D"/>
                </a:solidFill>
              </a:defRPr>
            </a:pPr>
            <a:r>
              <a:t>Digital Transformation &amp; Cybersecurity Compliance Auditor</a:t>
            </a:r>
          </a:p>
          <a:p>
            <a:pPr algn="r" rtl="1">
              <a:defRPr sz="1600">
                <a:solidFill>
                  <a:srgbClr val="C9D6E3"/>
                </a:solidFill>
              </a:defRPr>
            </a:pPr>
            <a:r>
              <a:t>مشروع تخرج — Generative AI Solutions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اسم الفريق: [أدخل اسم الفريق]</a:t>
            </a:r>
          </a:p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رغد عسيري، ريهام المطيري، ليان الدوسري</a:t>
            </a:r>
          </a:p>
          <a:p>
            <a:pPr algn="r" rt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تاريخ التسليم: 6 أغسطس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المشكلة والمستخدم المستهدف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لماذا هذا المشروع؟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الجهات الحكومية السعودية ملزمة بالامتثال لأطر تنظيمية متعددة ومعقّدة: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معايير قياس للتحول الرقمي — هيئة الحكومة الرقمية DGA (89 معيارًا ضمن 10 مناظير)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الضوابط الأساسية للأمن السيبراني ECC — الهيئة الوطنية للأمن السيبراني (108 ضوابط ضمن 28 محورًا)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مراجعة مستندات الجهة يدويًا مقابل هذا الكم من المعايير: عملية بطيئة، غير متسقة بين المراجعين، وعرضة للخطأ البشري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المستخدم المستهدف: مدقق الامتثال / مسؤول حوكمة تقنية المعلومات والأمن السيبراني داخل الجهة الحكومية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الحل المقترح والقيمة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كيف يحل النظام المشكلة؟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يرفع المستخدم مستند الجهة (PDF أو Word) ويختار المعيار/الضابط المطلوب تدقيقه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يقوم النظام تلقائيًا بـ: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قراءة نص المستند + استخراج وتحليل أي صور/لقطات شاشة مضمّنة بداخله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مقارنة المحتوى حصريًا بنص المعيار الرسمي المسترجَع (وليس بمجرد تشابه الكلمات)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إصدار درجة امتثال، الفجوات، التوصيات، وتقرير CSV قابل للتنزيل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القيمة: توفير وقت المراجعة، اتساق النتائج، وتوثيق قابل للتتبع لكل معيار على حدة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البيانات المدخلة وقاعدة المعرفة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على ماذا يعتمد النظام؟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قاعدة المعرفة: نصوص رسمية مُلخّصة من الوثائق الرسمية الصادرة عن DGA وNCA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إطار قياس: 10 مناظير ← 24 محورًا ← 89 معيارًا، بالهدف والمتطلبات الرئيسية لكل معيار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إطار ECC: 4 مجالات ← 28 محورًا ← 108 ضوابط رئيسية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مدخلات المستخدم: مستند PDF أو Word خاص بالجهة، يحتوي نصًا وصورًا (لقطات شاشة كأدلة إثبات)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لا حاجة لبيانات ضخمة — بيانات رسمية ومحدّدة الحجم كافية لدقة الاسترجاع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البنية العامة للنظام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من رفع المستند إلى النتيجة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رفع المستند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9466783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0551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قراءة تلقائية</a:t>
            </a:r>
            <a:br/>
            <a:r>
              <a:t>للنص والصور</a:t>
            </a:r>
          </a:p>
        </p:txBody>
      </p:sp>
      <p:sp>
        <p:nvSpPr>
          <p:cNvPr id="9" name="Right Arrow 8"/>
          <p:cNvSpPr/>
          <p:nvPr/>
        </p:nvSpPr>
        <p:spPr>
          <a:xfrm rot="10800000">
            <a:off x="7034479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78247" y="2743200"/>
            <a:ext cx="1600200" cy="1005840"/>
          </a:xfrm>
          <a:prstGeom prst="roundRect">
            <a:avLst/>
          </a:prstGeom>
          <a:solidFill>
            <a:srgbClr val="00A79D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مطابقة مع</a:t>
            </a:r>
            <a:br/>
            <a:r>
              <a:t>المعيار الرسمي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4602175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5943" y="2743200"/>
            <a:ext cx="1600200" cy="1005840"/>
          </a:xfrm>
          <a:prstGeom prst="roundRect">
            <a:avLst/>
          </a:prstGeom>
          <a:solidFill>
            <a:srgbClr val="00A79D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فحص الصور</a:t>
            </a:r>
            <a:br/>
            <a:r>
              <a:t>المرفقة</a:t>
            </a:r>
          </a:p>
        </p:txBody>
      </p:sp>
      <p:sp>
        <p:nvSpPr>
          <p:cNvPr id="13" name="Right Arrow 12"/>
          <p:cNvSpPr/>
          <p:nvPr/>
        </p:nvSpPr>
        <p:spPr>
          <a:xfrm rot="10800000">
            <a:off x="2169871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3639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حساب النتيجة</a:t>
            </a:r>
          </a:p>
        </p:txBody>
      </p:sp>
      <p:sp>
        <p:nvSpPr>
          <p:cNvPr id="15" name="Right Arrow 14"/>
          <p:cNvSpPr/>
          <p:nvPr/>
        </p:nvSpPr>
        <p:spPr>
          <a:xfrm rot="10800000">
            <a:off x="-262433" y="3136392"/>
            <a:ext cx="320040" cy="219456"/>
          </a:xfrm>
          <a:prstGeom prst="rightArrow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-2118665" y="2743200"/>
            <a:ext cx="1600200" cy="1005840"/>
          </a:xfrm>
          <a:prstGeom prst="roundRect">
            <a:avLst/>
          </a:prstGeom>
          <a:solidFill>
            <a:srgbClr val="0B2545"/>
          </a:solidFill>
          <a:ln w="19050">
            <a:solidFill>
              <a:srgbClr val="00A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تقرير جاهز</a:t>
            </a:r>
            <a:br/>
            <a:r>
              <a:t>للتنزيل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i="1">
                <a:solidFill>
                  <a:srgbClr val="333F4C"/>
                </a:solidFill>
              </a:defRPr>
            </a:pPr>
            <a:r>
              <a:t>جميع الخطوات تتم تلقائيًا بمجرد رفع الملف — بدون أي أزرار إضافية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خط أنابيب RAG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كيف يجد النظام الدليل الصحيح؟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يمتلك النظام نسخة رسمية من كل معايير قياس وECC مقسّمة بشكل منظم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عند اختيار معيار معيّن، يبحث النظام تلقائيًا عن النص الرسمي الدقيق لهذا المعيار فقط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يقارن محتوى المستند المرفوع بهذا النص الرسمي تحديدًا، وليس بالتخمين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إذا لم يجد دليلًا كافيًا في المستند، لا يمنح النظام حكم امتثال — بل يوضّح أن الأمر "غير مثبت ويحتاج مراجعة"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الوكيل والأدوات (Agent &amp; Tools)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من يتخذ القرار؟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أداة أولى: تحسب درجة الامتثال تلقائيًا لكل معيار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أداة ثانية: تجهّز تقرير امتثال جاهزًا للتنزيل بصيغة CSV/Excel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خطوة إضافية: يفحص النظام أي صور مرفقة في المستند ويتأكد أنها دليل مناسب ومحدّث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النظام مبني ليكون "حذرًا" — لا يمنح تقييمًا إيجابيًا إلا إذا وُجد دليل فعلي وواضح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العرض الحي (Live Demo)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تجربة عملية على النظام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رفع مستند تجريبي (تقرير تخطيط استراتيجي يحتوي نصًا ولقطة شاشة كدليل)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اختيار الإطار: قياس ← المنظور الأول: الإستراتيجية والتخطيط ← المعيار 5.1.1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عرض تلقائي دون أي زر إضافي: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النص المستخرج من المستند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تحليل الصورة المرفقة ومدى مطابقتها وحداثتها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درجة الامتثال، الفجوات، التوصيات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تنزيل تقرير CSV النهائي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الجودة والموثوقية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كيف نتأكد أن النظام يعمل بشكل صحيح؟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تم اختبار النظام على أكثر من 35 حالة اختبار مختلفة قبل الاعتماد عليه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النظام يرفض تلقائيًا أي ملف غير مطابق لما هو متوقع (نوع أو حجم الملف)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لا يمنح النظام تقييم امتثال دون دليل واضح — يفضّل قول "غير مثبت" على التخمين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الوصول للنظام محمي بتسجيل دخول وصلاحيات حسب دور المستخدم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1">
                <a:solidFill>
                  <a:srgbClr val="00A79D"/>
                </a:solidFill>
              </a:defRPr>
            </a:pPr>
            <a:r>
              <a:t>الخاتمة والتحسينات المستقبلية</a:t>
            </a:r>
          </a:p>
          <a:p>
            <a:pPr algn="r" rtl="1">
              <a:defRPr sz="2800" b="1">
                <a:solidFill>
                  <a:srgbClr val="FFFFFF"/>
                </a:solidFill>
              </a:defRPr>
            </a:pPr>
            <a:r>
              <a:t>إلى أين يمكن أن يتطور المشروع؟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الخلاصة: نموذج عملي متكامل يربط بين RAG، وكيل بأدوات حقيقية، وتطبيق فعلي قابل للتشغيل والعرض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يغطي متطلبات المشروع: Day 1 (نموذج ← حل)، RAG كامل، Agent بأداتين حقيقيتين على الأقل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0B2545"/>
                </a:solidFill>
              </a:defRPr>
            </a:pPr>
            <a:r>
              <a:t>• تحسينات مستقبلية: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إضافة أطر تنظيمية سعودية إضافية (مثل PDPL، NDMO)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سجل تدقيق دائم لكل جهة مع مقارنة الأداء عبر الزمن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فحص أعمق للملفات المرفوعة</a:t>
            </a:r>
          </a:p>
          <a:p>
            <a:pPr algn="r" rtl="1">
              <a:lnSpc>
                <a:spcPct val="115000"/>
              </a:lnSpc>
              <a:spcAft>
                <a:spcPts val="400"/>
              </a:spcAft>
              <a:defRPr sz="1600" b="0">
                <a:solidFill>
                  <a:srgbClr val="333F4C"/>
                </a:solidFill>
              </a:defRPr>
            </a:pPr>
            <a:r>
              <a:t>     - نشر عام على Streamlit Community Cloud (نقاط المكافأة +5)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